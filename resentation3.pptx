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C07E-4053-DE67-274A-5C9F298E92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4294F0-2328-8445-DB30-203CB0C96D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8613833-83CF-8FD9-A812-F2BD1B7BC630}"/>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4603556B-DBF9-FA2C-4D3B-098CD1B654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F2A474-D4E2-8FE9-6648-1EF7F752FEF0}"/>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510566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A43FB-131E-9755-E3AC-D36368BEBF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AA7CFB-C4C3-FCF5-408E-0DC36A2687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806813-5C1B-407D-5C55-D7BA1AF6852D}"/>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160144DF-C4AF-3A40-0309-B7FE5A9AA7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CD842F-4C5B-DBA6-C93E-F37150E918E4}"/>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151200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D9365-5574-F6F1-E516-A7F000C18B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75B255-207F-33C5-0057-73C429A2C5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365651-8F88-15D6-DBC3-7A28246052E1}"/>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A708FCCB-B57A-F6A8-0A7A-4C696393CA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FD6C60-1D44-6D77-3331-48DB91F375D8}"/>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096862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4B33E-A3C5-BE3F-827D-1BAEFBF901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123230-D8C3-9380-7D2B-1C35BC4D96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417E5AB-C43A-55F2-0817-F967602722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27336F-E8DC-E667-3E44-2030AF7239AB}"/>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6" name="Footer Placeholder 5">
            <a:extLst>
              <a:ext uri="{FF2B5EF4-FFF2-40B4-BE49-F238E27FC236}">
                <a16:creationId xmlns:a16="http://schemas.microsoft.com/office/drawing/2014/main" id="{49F6EF6C-3A9F-6451-2D72-A841729A87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661E6C-C46A-D38E-DD5E-86FBFA606D12}"/>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921210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4BC3D-AC7E-267F-7855-6F9EDCA4739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577DF3-B2B4-3CF7-5785-128667B4E5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AFF075-AAA3-84F9-2DE6-BED3AA6891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8BA74C-7A65-36E1-50BA-AD92AC156D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D4887E-AED6-AFD6-13C8-8828697D7A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19F71CC-2FFC-9952-FA78-D13371A508B4}"/>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8" name="Footer Placeholder 7">
            <a:extLst>
              <a:ext uri="{FF2B5EF4-FFF2-40B4-BE49-F238E27FC236}">
                <a16:creationId xmlns:a16="http://schemas.microsoft.com/office/drawing/2014/main" id="{07A57358-3DEF-9F4C-0F13-CE04970899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A38CCB4-44B5-9D47-82DB-7EC3769676BB}"/>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4240420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C3D7F-5186-3470-17F4-768C3AA8E21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2D2B1AD-0E34-4E1E-F088-7BB59E96DC61}"/>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4" name="Footer Placeholder 3">
            <a:extLst>
              <a:ext uri="{FF2B5EF4-FFF2-40B4-BE49-F238E27FC236}">
                <a16:creationId xmlns:a16="http://schemas.microsoft.com/office/drawing/2014/main" id="{09C86A18-6F6A-7278-B236-5EA4ACC4FB5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18DC163-7150-564E-A4B3-7D28EE398262}"/>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1016326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D8E8C9-1C67-2A16-C366-106C533CE044}"/>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3" name="Footer Placeholder 2">
            <a:extLst>
              <a:ext uri="{FF2B5EF4-FFF2-40B4-BE49-F238E27FC236}">
                <a16:creationId xmlns:a16="http://schemas.microsoft.com/office/drawing/2014/main" id="{1BEA82FF-71EF-914E-9CE2-F2BC53E621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0050C8F-96AE-7C16-A720-9CED6C51B3BA}"/>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371989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CFF24-1E62-5A6B-9B10-7B27E7C046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C62C519-5736-F924-5E93-F34B47EFDF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9CACC9-5286-F0B6-A0F6-C7E7D6AA3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0841CB-B70C-E769-5BC1-E2FFEC6CBE0E}"/>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6" name="Footer Placeholder 5">
            <a:extLst>
              <a:ext uri="{FF2B5EF4-FFF2-40B4-BE49-F238E27FC236}">
                <a16:creationId xmlns:a16="http://schemas.microsoft.com/office/drawing/2014/main" id="{A75BFC7C-303E-3C02-865D-6209241069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3AC23D-9689-492A-B723-00FF44334CBD}"/>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885721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B10EE-E3BF-D29A-5464-3B941FADD7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D4B4368-EB49-F9FA-8B9E-C23A6D2B13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7B8E4E5-7E01-F862-D0F9-D9490B90BD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65461F-8AA7-AB6D-7A02-95E50074B660}"/>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6" name="Footer Placeholder 5">
            <a:extLst>
              <a:ext uri="{FF2B5EF4-FFF2-40B4-BE49-F238E27FC236}">
                <a16:creationId xmlns:a16="http://schemas.microsoft.com/office/drawing/2014/main" id="{D0FEADC6-6D4E-35CF-BF11-9565300D66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900593-EB45-15EF-58DA-4C0B76D4FA57}"/>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1627785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C1AB2-A3F0-7BEA-4E6A-38C885956B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B9A37B-0AF5-D19B-C885-F8EC11103E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BD1FAE-9C95-3581-039F-29C436D7321C}"/>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96B515D5-3CBA-947F-4142-A2E50E70F9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6C5B82-37A1-84B8-9134-43CC805EA923}"/>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647906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4FCD21-A0BC-B79C-EFC3-2BE101A5822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382348-B376-84FC-7ECD-697C2B4190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0A0BEB-393D-3CCA-2935-F2A0BB8225A1}"/>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A3F9B60C-ED66-BAD1-20FF-5B352964B8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389501-8588-8C99-6228-C3BDC5A92D0E}"/>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369044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9E7C2-9192-B519-3C4E-7A0DC43A83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301B17-8509-1550-DA9C-1D76B64AC1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94487E-117B-C5DF-FC04-28A593DB0E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8BF16C99-463A-AB51-0819-7BC652514E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8F8C251-6A14-83EC-A767-A79943CAC8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87133C-DCD3-4F7F-9E67-2F78F72832D5}" type="slidenum">
              <a:rPr lang="en-IN" smtClean="0"/>
              <a:t>‹#›</a:t>
            </a:fld>
            <a:endParaRPr lang="en-IN"/>
          </a:p>
        </p:txBody>
      </p:sp>
    </p:spTree>
    <p:extLst>
      <p:ext uri="{BB962C8B-B14F-4D97-AF65-F5344CB8AC3E}">
        <p14:creationId xmlns:p14="http://schemas.microsoft.com/office/powerpoint/2010/main" val="173834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18ECC-E0AA-054F-DD9E-0128CC1B120E}"/>
              </a:ext>
            </a:extLst>
          </p:cNvPr>
          <p:cNvSpPr>
            <a:spLocks noGrp="1"/>
          </p:cNvSpPr>
          <p:nvPr>
            <p:ph type="ctrTitle"/>
          </p:nvPr>
        </p:nvSpPr>
        <p:spPr>
          <a:xfrm>
            <a:off x="1524000" y="-432619"/>
            <a:ext cx="9144000" cy="432619"/>
          </a:xfrm>
        </p:spPr>
        <p:txBody>
          <a:bodyPr>
            <a:normAutofit fontScale="90000"/>
          </a:bodyPr>
          <a:lstStyle/>
          <a:p>
            <a:endParaRPr lang="en-IN" dirty="0"/>
          </a:p>
        </p:txBody>
      </p:sp>
      <p:sp>
        <p:nvSpPr>
          <p:cNvPr id="3" name="Subtitle 2">
            <a:extLst>
              <a:ext uri="{FF2B5EF4-FFF2-40B4-BE49-F238E27FC236}">
                <a16:creationId xmlns:a16="http://schemas.microsoft.com/office/drawing/2014/main" id="{3A54C972-27E0-6CDF-D6A1-B4F8C5E88FFD}"/>
              </a:ext>
            </a:extLst>
          </p:cNvPr>
          <p:cNvSpPr>
            <a:spLocks noGrp="1"/>
          </p:cNvSpPr>
          <p:nvPr>
            <p:ph type="subTitle" idx="1"/>
          </p:nvPr>
        </p:nvSpPr>
        <p:spPr>
          <a:xfrm>
            <a:off x="78658" y="-1"/>
            <a:ext cx="12113342" cy="6420466"/>
          </a:xfrm>
        </p:spPr>
        <p:txBody>
          <a:bodyPr>
            <a:normAutofit lnSpcReduction="10000"/>
          </a:bodyPr>
          <a:lstStyle/>
          <a:p>
            <a:pPr>
              <a:buNone/>
            </a:pPr>
            <a:r>
              <a:rPr lang="en-US" sz="3200" b="1" dirty="0"/>
              <a:t>4. PROJECT DESIGN</a:t>
            </a:r>
          </a:p>
          <a:p>
            <a:pPr algn="l">
              <a:buNone/>
            </a:pPr>
            <a:r>
              <a:rPr lang="en-US" sz="1800" i="1" dirty="0"/>
              <a:t>Project design is an important phase in the development of the Darshan Ease system. In this phase, the overall structure of the system is planned and designed. The project design defines how the different components of the system interact with each other. It includes system architecture, user interface design, and database design. The main goal of this phase is to create an efficient and scalable system that provides a smooth experience for users.</a:t>
            </a:r>
          </a:p>
          <a:p>
            <a:pPr algn="l">
              <a:buNone/>
            </a:pPr>
            <a:r>
              <a:rPr lang="en-US" sz="1800" i="1" dirty="0"/>
              <a:t>The Darshan Ease system is designed using the </a:t>
            </a:r>
            <a:r>
              <a:rPr lang="en-US" sz="1800" b="1" i="1" dirty="0"/>
              <a:t>MERN stack</a:t>
            </a:r>
            <a:r>
              <a:rPr lang="en-US" sz="1800" i="1" dirty="0"/>
              <a:t>, which includes MongoDB, Express.js, React.js, and Node.js. This architecture helps in developing a fast, scalable, and secure web application.</a:t>
            </a:r>
          </a:p>
          <a:p>
            <a:endParaRPr lang="en-IN" dirty="0"/>
          </a:p>
          <a:p>
            <a:r>
              <a:rPr lang="en-US" b="1" dirty="0"/>
              <a:t>4.1 Problem–Solution Fit</a:t>
            </a:r>
          </a:p>
          <a:p>
            <a:r>
              <a:rPr lang="en-US" sz="1800" i="1" dirty="0"/>
              <a:t>The Darshan Ease system is designed to solve the problem of long waiting queues and poor crowd management in temples. Many devotees face difficulty while visiting temples due to overcrowding and lack of proper scheduling.</a:t>
            </a:r>
          </a:p>
          <a:p>
            <a:r>
              <a:rPr lang="en-US" sz="1800" i="1" dirty="0"/>
              <a:t>The proposed system provides an online platform where users can book their darshan slots in advance. This helps reduce waiting time and ensures better crowd management. The system allows devotees to select temples, choose time slots, and confirm their bookings easily. This solution improves the overall temple visit experience.</a:t>
            </a:r>
          </a:p>
          <a:p>
            <a:r>
              <a:rPr lang="en-US" b="1" dirty="0"/>
              <a:t>4.2 Proposed Solution</a:t>
            </a:r>
          </a:p>
          <a:p>
            <a:pPr algn="l"/>
            <a:r>
              <a:rPr lang="en-US" sz="1800" i="1" dirty="0"/>
              <a:t>The proposed solution is a </a:t>
            </a:r>
            <a:r>
              <a:rPr lang="en-US" sz="1800" b="1" i="1" dirty="0"/>
              <a:t>web-based application</a:t>
            </a:r>
            <a:r>
              <a:rPr lang="en-US" sz="1800" i="1" dirty="0"/>
              <a:t> that allows users to book darshan slots online. The system provides a simple and user-friendly interface where devotees can view temple information and book available slots.</a:t>
            </a:r>
          </a:p>
          <a:p>
            <a:pPr algn="l"/>
            <a:r>
              <a:rPr lang="en-US" sz="1800" i="1" dirty="0"/>
              <a:t>The application uses </a:t>
            </a:r>
            <a:r>
              <a:rPr lang="en-US" sz="1800" b="1" i="1" dirty="0"/>
              <a:t>React.js</a:t>
            </a:r>
            <a:r>
              <a:rPr lang="en-US" sz="1800" i="1" dirty="0"/>
              <a:t> for the frontend to create an interactive user interface. The backend is developed using </a:t>
            </a:r>
            <a:r>
              <a:rPr lang="en-US" sz="1800" b="1" i="1" dirty="0"/>
              <a:t>Node.js and Express.js</a:t>
            </a:r>
            <a:r>
              <a:rPr lang="en-US" sz="1800" i="1" dirty="0"/>
              <a:t>, which handle server requests and application logic. </a:t>
            </a:r>
            <a:r>
              <a:rPr lang="en-US" sz="1800" b="1" i="1" dirty="0"/>
              <a:t>MongoDB</a:t>
            </a:r>
            <a:r>
              <a:rPr lang="en-US" sz="1800" i="1" dirty="0"/>
              <a:t> is used as the database to store user details, temple information, and booking records.</a:t>
            </a:r>
          </a:p>
          <a:p>
            <a:endParaRPr lang="en-IN" dirty="0"/>
          </a:p>
        </p:txBody>
      </p:sp>
    </p:spTree>
    <p:extLst>
      <p:ext uri="{BB962C8B-B14F-4D97-AF65-F5344CB8AC3E}">
        <p14:creationId xmlns:p14="http://schemas.microsoft.com/office/powerpoint/2010/main" val="2163525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BFC48-7BF3-B797-365D-FADF781BCE0D}"/>
              </a:ext>
            </a:extLst>
          </p:cNvPr>
          <p:cNvSpPr>
            <a:spLocks noGrp="1"/>
          </p:cNvSpPr>
          <p:nvPr>
            <p:ph type="title"/>
          </p:nvPr>
        </p:nvSpPr>
        <p:spPr>
          <a:xfrm>
            <a:off x="838200" y="-255639"/>
            <a:ext cx="10515600" cy="117987"/>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6BCF37FA-28EF-6F95-860C-BA6D14BFCB19}"/>
              </a:ext>
            </a:extLst>
          </p:cNvPr>
          <p:cNvSpPr>
            <a:spLocks noGrp="1"/>
          </p:cNvSpPr>
          <p:nvPr>
            <p:ph idx="1"/>
          </p:nvPr>
        </p:nvSpPr>
        <p:spPr>
          <a:xfrm>
            <a:off x="0" y="0"/>
            <a:ext cx="12192000" cy="5879690"/>
          </a:xfrm>
        </p:spPr>
        <p:txBody>
          <a:bodyPr>
            <a:normAutofit lnSpcReduction="10000"/>
          </a:bodyPr>
          <a:lstStyle/>
          <a:p>
            <a:r>
              <a:rPr lang="en-US" sz="2400" b="1" dirty="0"/>
              <a:t>4.3 System Architecture</a:t>
            </a:r>
          </a:p>
          <a:p>
            <a:r>
              <a:rPr lang="en-US" sz="2000" i="1" dirty="0"/>
              <a:t>The </a:t>
            </a:r>
            <a:r>
              <a:rPr lang="en-US" sz="2000" i="1" dirty="0" err="1"/>
              <a:t>DarshanEase</a:t>
            </a:r>
            <a:r>
              <a:rPr lang="en-US" sz="2000" i="1" dirty="0"/>
              <a:t> system follows a </a:t>
            </a:r>
            <a:r>
              <a:rPr lang="en-US" sz="2000" b="1" i="1" dirty="0"/>
              <a:t>three-tier architecture</a:t>
            </a:r>
            <a:r>
              <a:rPr lang="en-US" sz="2000" i="1" dirty="0"/>
              <a:t> consisting of the following layers:</a:t>
            </a:r>
          </a:p>
          <a:p>
            <a:r>
              <a:rPr lang="en-US" sz="2000" b="1" i="1" dirty="0"/>
              <a:t>1. Presentation Layer (Frontend)</a:t>
            </a:r>
          </a:p>
          <a:p>
            <a:r>
              <a:rPr lang="en-US" sz="2000" i="1" dirty="0"/>
              <a:t>This layer is responsible for the user interface. It allows users to interact with the system through web pages. The frontend is developed using </a:t>
            </a:r>
            <a:r>
              <a:rPr lang="en-US" sz="2000" b="1" i="1" dirty="0"/>
              <a:t>React.js, HTML, CSS, and JavaScript</a:t>
            </a:r>
            <a:r>
              <a:rPr lang="en-US" sz="2000" i="1" dirty="0"/>
              <a:t>.</a:t>
            </a:r>
          </a:p>
          <a:p>
            <a:r>
              <a:rPr lang="en-US" sz="2000" b="1" i="1" dirty="0"/>
              <a:t>2. Application Layer (Backend)</a:t>
            </a:r>
          </a:p>
          <a:p>
            <a:r>
              <a:rPr lang="en-US" sz="2000" i="1" dirty="0"/>
              <a:t>This layer handles the business logic of the system. It processes user requests, manages booking operations, and communicates with the database. The backend is developed using </a:t>
            </a:r>
            <a:r>
              <a:rPr lang="en-US" sz="2000" b="1" i="1" dirty="0"/>
              <a:t>Node.js and Express.js</a:t>
            </a:r>
            <a:r>
              <a:rPr lang="en-US" sz="2000" i="1" dirty="0"/>
              <a:t>.</a:t>
            </a:r>
          </a:p>
          <a:p>
            <a:r>
              <a:rPr lang="en-US" sz="2000" b="1" i="1" dirty="0"/>
              <a:t>3. Data Layer (Database)</a:t>
            </a:r>
          </a:p>
          <a:p>
            <a:r>
              <a:rPr lang="en-US" sz="2000" i="1" dirty="0"/>
              <a:t>This layer stores all the data required for the system. It includes user information, temple details, and booking records. The database used in the system is </a:t>
            </a:r>
            <a:r>
              <a:rPr lang="en-US" sz="2000" b="1" i="1" dirty="0"/>
              <a:t>MongoDB</a:t>
            </a:r>
            <a:r>
              <a:rPr lang="en-US" sz="2000" i="1" dirty="0"/>
              <a:t>, which provides flexible and scalable data storage</a:t>
            </a:r>
            <a:r>
              <a:rPr lang="en-US" i="1" dirty="0"/>
              <a:t>.</a:t>
            </a:r>
          </a:p>
          <a:p>
            <a:endParaRPr lang="en-US" i="1" dirty="0"/>
          </a:p>
          <a:p>
            <a:r>
              <a:rPr lang="en-US" sz="2400" b="1" i="1" dirty="0"/>
              <a:t>4.4 User Interface Design</a:t>
            </a:r>
          </a:p>
          <a:p>
            <a:r>
              <a:rPr lang="en-US" sz="2000" i="1" dirty="0"/>
              <a:t>The user interface of the Darshan Ease system is designed to be simple and easy to use. The application includes different pages such as the home page, temple listing page, booking page, and confirmation page. The interface allows users to easily navigate through the system and complete the booking process without difficulty.</a:t>
            </a:r>
          </a:p>
          <a:p>
            <a:endParaRPr lang="en-IN" dirty="0"/>
          </a:p>
        </p:txBody>
      </p:sp>
    </p:spTree>
    <p:extLst>
      <p:ext uri="{BB962C8B-B14F-4D97-AF65-F5344CB8AC3E}">
        <p14:creationId xmlns:p14="http://schemas.microsoft.com/office/powerpoint/2010/main" val="3580131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21398-E72F-0C21-FDEB-E2AC1C4CC6B2}"/>
              </a:ext>
            </a:extLst>
          </p:cNvPr>
          <p:cNvSpPr>
            <a:spLocks noGrp="1"/>
          </p:cNvSpPr>
          <p:nvPr>
            <p:ph type="title"/>
          </p:nvPr>
        </p:nvSpPr>
        <p:spPr>
          <a:xfrm flipV="1">
            <a:off x="838200" y="-442452"/>
            <a:ext cx="10515600" cy="137653"/>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376E81A9-19A6-CDB6-1DA2-D334150ED063}"/>
              </a:ext>
            </a:extLst>
          </p:cNvPr>
          <p:cNvSpPr>
            <a:spLocks noGrp="1"/>
          </p:cNvSpPr>
          <p:nvPr>
            <p:ph idx="1"/>
          </p:nvPr>
        </p:nvSpPr>
        <p:spPr>
          <a:xfrm>
            <a:off x="-1" y="0"/>
            <a:ext cx="12192001" cy="6700684"/>
          </a:xfrm>
        </p:spPr>
        <p:txBody>
          <a:bodyPr/>
          <a:lstStyle/>
          <a:p>
            <a:r>
              <a:rPr lang="en-US" b="1" dirty="0"/>
              <a:t>4.5 Database Design</a:t>
            </a:r>
          </a:p>
          <a:p>
            <a:r>
              <a:rPr lang="en-US" sz="2000" dirty="0"/>
              <a:t>The database is designed to store and manage all the information related to users, temples, and bookings. MongoDB is used as the database because it provides flexible data storage and high performance.</a:t>
            </a:r>
          </a:p>
          <a:p>
            <a:r>
              <a:rPr lang="en-US" sz="2000" dirty="0"/>
              <a:t>The main collections used in the database are:</a:t>
            </a:r>
          </a:p>
          <a:p>
            <a:r>
              <a:rPr lang="en-US" sz="2000" b="1" dirty="0"/>
              <a:t>Users Collection</a:t>
            </a:r>
            <a:r>
              <a:rPr lang="en-US" sz="2000" dirty="0"/>
              <a:t> – stores user details such as name, email, and password</a:t>
            </a:r>
          </a:p>
          <a:p>
            <a:r>
              <a:rPr lang="en-US" sz="2000" b="1" dirty="0"/>
              <a:t>Temples Collection</a:t>
            </a:r>
            <a:r>
              <a:rPr lang="en-US" sz="2000" dirty="0"/>
              <a:t> – stores information about temples and available darshan slots</a:t>
            </a:r>
          </a:p>
          <a:p>
            <a:r>
              <a:rPr lang="en-US" sz="2000" b="1" dirty="0"/>
              <a:t>Bookings Collection</a:t>
            </a:r>
            <a:r>
              <a:rPr lang="en-US" sz="2000" dirty="0"/>
              <a:t> – stores booking details including date, time slot, and user information</a:t>
            </a:r>
          </a:p>
          <a:p>
            <a:endParaRPr lang="en-IN" dirty="0"/>
          </a:p>
        </p:txBody>
      </p:sp>
      <p:pic>
        <p:nvPicPr>
          <p:cNvPr id="5" name="Picture 4">
            <a:extLst>
              <a:ext uri="{FF2B5EF4-FFF2-40B4-BE49-F238E27FC236}">
                <a16:creationId xmlns:a16="http://schemas.microsoft.com/office/drawing/2014/main" id="{56EB7928-751F-F67D-D318-BD830CE5DD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7019" y="2733368"/>
            <a:ext cx="8298426" cy="3967316"/>
          </a:xfrm>
          <a:prstGeom prst="rect">
            <a:avLst/>
          </a:prstGeom>
        </p:spPr>
      </p:pic>
    </p:spTree>
    <p:extLst>
      <p:ext uri="{BB962C8B-B14F-4D97-AF65-F5344CB8AC3E}">
        <p14:creationId xmlns:p14="http://schemas.microsoft.com/office/powerpoint/2010/main" val="28689317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620</Words>
  <Application>Microsoft Office PowerPoint</Application>
  <PresentationFormat>Widescreen</PresentationFormat>
  <Paragraphs>27</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Poornima Rajpoot</dc:creator>
  <cp:lastModifiedBy>Poornima Rajpoot</cp:lastModifiedBy>
  <cp:revision>2</cp:revision>
  <dcterms:created xsi:type="dcterms:W3CDTF">2026-03-09T07:14:54Z</dcterms:created>
  <dcterms:modified xsi:type="dcterms:W3CDTF">2026-03-09T08:07:21Z</dcterms:modified>
</cp:coreProperties>
</file>